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8" d="100"/>
          <a:sy n="118" d="100"/>
        </p:scale>
        <p:origin x="442" y="-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8347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4FC3F7">
              <a:alpha val="12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43" y="1908810"/>
            <a:ext cx="1005840" cy="971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2365" y="1808534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691640" y="311731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00C9A7">
              <a:alpha val="8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645920" y="310345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Project  |  C++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5760720" y="365760"/>
            <a:ext cx="3108960" cy="4389120"/>
          </a:xfrm>
          <a:prstGeom prst="roundRect">
            <a:avLst>
              <a:gd name="adj" fmla="val 4412"/>
            </a:avLst>
          </a:prstGeom>
          <a:solidFill>
            <a:srgbClr val="162436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1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• Object-Oriented Programming • Console Application</a:t>
            </a:r>
            <a:endParaRPr lang="en-US" sz="9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5F061BD-5B9C-D844-0949-F9AF053C7B57}"/>
              </a:ext>
            </a:extLst>
          </p:cNvPr>
          <p:cNvGrpSpPr>
            <a:grpSpLocks/>
          </p:cNvGrpSpPr>
          <p:nvPr/>
        </p:nvGrpSpPr>
        <p:grpSpPr bwMode="auto">
          <a:xfrm>
            <a:off x="1898192" y="249484"/>
            <a:ext cx="1690177" cy="2141787"/>
            <a:chOff x="0" y="0"/>
            <a:chExt cx="23530" cy="3019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E2BEDA3-FAA8-CBF2-E649-62280DB2F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98" y="28109"/>
              <a:ext cx="466" cy="2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6350" indent="-6350">
                <a:lnSpc>
                  <a:spcPct val="106000"/>
                </a:lnSpc>
                <a:spcAft>
                  <a:spcPts val="800"/>
                </a:spcAft>
                <a:buNone/>
              </a:pPr>
              <a:r>
                <a:rPr lang="en-GB" sz="1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GB" sz="1000">
                <a:solidFill>
                  <a:srgbClr val="080808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AA3BC67-394C-057E-8A75-427A8E20CD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3530" cy="301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11B96907-5C1F-32A2-A9AF-D09FE8600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88620"/>
            <a:ext cx="3079635" cy="43891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118872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162436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1" descr="/home/claude/ss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1298448"/>
            <a:ext cx="3840480" cy="3337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754880" y="173736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847088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85232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&amp; Magazines catalogue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754880" y="2395728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505456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85232" y="2487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borrow up to 3 items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754880" y="3054096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163824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85232" y="31455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&amp; Return tracking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754880" y="3712464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3822192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85232" y="38039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file-based persistence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4754880" y="4370832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4480560"/>
            <a:ext cx="320040" cy="32004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85232" y="4462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12-option ANSI color menu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OOP Pillars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1965960" cy="3657600"/>
          </a:xfrm>
          <a:prstGeom prst="roundRect">
            <a:avLst>
              <a:gd name="adj" fmla="val 5581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1965960" cy="54864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527048"/>
            <a:ext cx="1965960" cy="164592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18872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874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9768" y="2377440"/>
            <a:ext cx="1783080" cy="22860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LibraryItem &amp; Person are abstract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virtual functions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internal complexity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1143000"/>
            <a:ext cx="1965960" cy="3657600"/>
          </a:xfrm>
          <a:prstGeom prst="roundRect">
            <a:avLst>
              <a:gd name="adj" fmla="val 5581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143000"/>
            <a:ext cx="1965960" cy="54864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/>
        </p:spPr>
      </p:sp>
      <p:sp>
        <p:nvSpPr>
          <p:cNvPr id="13" name="Shape 10"/>
          <p:cNvSpPr/>
          <p:nvPr/>
        </p:nvSpPr>
        <p:spPr>
          <a:xfrm>
            <a:off x="2468880" y="1527048"/>
            <a:ext cx="1965960" cy="164592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118872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68880" y="1874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578608" y="2377440"/>
            <a:ext cx="1783080" cy="22860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members private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&amp; setters only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wraps all logic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17720" y="1143000"/>
            <a:ext cx="1965960" cy="3657600"/>
          </a:xfrm>
          <a:prstGeom prst="roundRect">
            <a:avLst>
              <a:gd name="adj" fmla="val 5581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17720" y="1143000"/>
            <a:ext cx="1965960" cy="548640"/>
          </a:xfrm>
          <a:prstGeom prst="roundRect">
            <a:avLst>
              <a:gd name="adj" fmla="val 20000"/>
            </a:avLst>
          </a:prstGeom>
          <a:solidFill>
            <a:srgbClr val="FFB347"/>
          </a:solidFill>
          <a:ln/>
        </p:spPr>
      </p:sp>
      <p:sp>
        <p:nvSpPr>
          <p:cNvPr id="19" name="Shape 15"/>
          <p:cNvSpPr/>
          <p:nvPr/>
        </p:nvSpPr>
        <p:spPr>
          <a:xfrm>
            <a:off x="4617720" y="1527048"/>
            <a:ext cx="1965960" cy="164592"/>
          </a:xfrm>
          <a:prstGeom prst="rect">
            <a:avLst/>
          </a:prstGeom>
          <a:solidFill>
            <a:srgbClr val="FFB347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088" y="118872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17720" y="1874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727448" y="2377440"/>
            <a:ext cx="1783080" cy="22860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/ Magazine → LibraryItem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/ Librarian → Person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code reuse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766560" y="1143000"/>
            <a:ext cx="1965960" cy="3657600"/>
          </a:xfrm>
          <a:prstGeom prst="roundRect">
            <a:avLst>
              <a:gd name="adj" fmla="val 5581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66560" y="1143000"/>
            <a:ext cx="1965960" cy="548640"/>
          </a:xfrm>
          <a:prstGeom prst="roundRect">
            <a:avLst>
              <a:gd name="adj" fmla="val 20000"/>
            </a:avLst>
          </a:prstGeom>
          <a:solidFill>
            <a:srgbClr val="00C9A7"/>
          </a:solidFill>
          <a:ln/>
        </p:spPr>
      </p:sp>
      <p:sp>
        <p:nvSpPr>
          <p:cNvPr id="25" name="Shape 20"/>
          <p:cNvSpPr/>
          <p:nvPr/>
        </p:nvSpPr>
        <p:spPr>
          <a:xfrm>
            <a:off x="6766560" y="1527048"/>
            <a:ext cx="1965960" cy="164592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928" y="1188720"/>
            <a:ext cx="640080" cy="6400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66560" y="1874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876288" y="2377440"/>
            <a:ext cx="1783080" cy="22860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displayDetails() overridden per type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type resolved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&lt;&lt; overloaded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 &amp;  Encapsulation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18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61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▸ LibraryItem — abstract base for all items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▸ Person — abstract base for all users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▸ Pure virtuals: displayDetails(), getType(), serialize()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▸ Subclasses MUST implement all pure virtuals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▸ Hides complexity behind a clean interface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14300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618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261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89204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▸ All data members are private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▸ Accessed only via getters / setters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▸ Library class wraps all data &amp; logic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▸ borrowedItemIDs managed through safe methods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▸ Prevents unauthorized data changes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 &amp;  Polymorphism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18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61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97280" y="18745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F6B6B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1874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LibraryItem  (abstract)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554480" y="2221992"/>
            <a:ext cx="0" cy="256032"/>
          </a:xfrm>
          <a:prstGeom prst="line">
            <a:avLst/>
          </a:prstGeom>
          <a:noFill/>
          <a:ln w="19050">
            <a:solidFill>
              <a:srgbClr val="7A93A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54480" y="2478024"/>
            <a:ext cx="685800" cy="0"/>
          </a:xfrm>
          <a:prstGeom prst="line">
            <a:avLst/>
          </a:prstGeom>
          <a:noFill/>
          <a:ln w="19050">
            <a:solidFill>
              <a:srgbClr val="7A93A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40280" y="2478024"/>
            <a:ext cx="0" cy="228600"/>
          </a:xfrm>
          <a:prstGeom prst="line">
            <a:avLst/>
          </a:prstGeom>
          <a:noFill/>
          <a:ln w="19050">
            <a:solidFill>
              <a:srgbClr val="7A93A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54480" y="2478024"/>
            <a:ext cx="0" cy="228600"/>
          </a:xfrm>
          <a:prstGeom prst="line">
            <a:avLst/>
          </a:prstGeom>
          <a:noFill/>
          <a:ln w="19050">
            <a:solidFill>
              <a:srgbClr val="7A93A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2706624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4FC3F7">
              <a:alpha val="7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7066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057400" y="2706624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4FC3F7">
              <a:alpha val="7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2057400" y="27066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Magazine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97280" y="333756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4FC3F7">
              <a:alpha val="8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3337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 (abstract)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554480" y="3685032"/>
            <a:ext cx="0" cy="256032"/>
          </a:xfrm>
          <a:prstGeom prst="line">
            <a:avLst/>
          </a:prstGeom>
          <a:noFill/>
          <a:ln w="19050">
            <a:solidFill>
              <a:srgbClr val="7A93A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554480" y="3941064"/>
            <a:ext cx="685800" cy="0"/>
          </a:xfrm>
          <a:prstGeom prst="line">
            <a:avLst/>
          </a:prstGeom>
          <a:noFill/>
          <a:ln w="19050">
            <a:solidFill>
              <a:srgbClr val="7A93A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240280" y="3941064"/>
            <a:ext cx="0" cy="228600"/>
          </a:xfrm>
          <a:prstGeom prst="line">
            <a:avLst/>
          </a:prstGeom>
          <a:noFill/>
          <a:ln w="19050">
            <a:solidFill>
              <a:srgbClr val="7A93A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554480" y="3941064"/>
            <a:ext cx="0" cy="228600"/>
          </a:xfrm>
          <a:prstGeom prst="line">
            <a:avLst/>
          </a:prstGeom>
          <a:noFill/>
          <a:ln w="19050">
            <a:solidFill>
              <a:srgbClr val="7A93A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" y="4169664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00C9A7">
              <a:alpha val="75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1696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057400" y="4169664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00C9A7">
              <a:alpha val="75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2057400" y="41696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617720" y="114300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61872"/>
            <a:ext cx="457200" cy="4572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440680" y="1261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700" dirty="0"/>
          </a:p>
        </p:txBody>
      </p:sp>
      <p:sp>
        <p:nvSpPr>
          <p:cNvPr id="31" name="Text 27"/>
          <p:cNvSpPr/>
          <p:nvPr/>
        </p:nvSpPr>
        <p:spPr>
          <a:xfrm>
            <a:off x="4892040" y="3557016"/>
            <a:ext cx="384048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757474" y="290322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162436"/>
          </a:solidFill>
          <a:ln/>
        </p:spPr>
      </p:sp>
      <p:sp>
        <p:nvSpPr>
          <p:cNvPr id="33" name="Text 29"/>
          <p:cNvSpPr/>
          <p:nvPr/>
        </p:nvSpPr>
        <p:spPr>
          <a:xfrm>
            <a:off x="4892040" y="29450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item→displayDetails()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874854" y="3167387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📘 Book: Title | Author | ISBN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874854" y="340010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📰 Magazine: Title | Publisher | Issue</a:t>
            </a:r>
            <a:endParaRPr lang="en-US" sz="9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095BB6-C75D-3A3C-4D55-2A3C22A8B39A}"/>
              </a:ext>
            </a:extLst>
          </p:cNvPr>
          <p:cNvSpPr txBox="1"/>
          <p:nvPr/>
        </p:nvSpPr>
        <p:spPr>
          <a:xfrm>
            <a:off x="4892040" y="1903497"/>
            <a:ext cx="333334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</a:rPr>
              <a:t>▸ </a:t>
            </a:r>
            <a:r>
              <a:rPr lang="en-US" sz="1200" dirty="0" err="1">
                <a:solidFill>
                  <a:srgbClr val="FFFFFF"/>
                </a:solidFill>
              </a:rPr>
              <a:t>displayDetails</a:t>
            </a:r>
            <a:r>
              <a:rPr lang="en-US" sz="1200" dirty="0">
                <a:solidFill>
                  <a:srgbClr val="FFFFFF"/>
                </a:solidFill>
              </a:rPr>
              <a:t>() in Book vs Magazine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</a:rPr>
              <a:t>▸ </a:t>
            </a:r>
            <a:r>
              <a:rPr lang="en-US" sz="1200" dirty="0" err="1">
                <a:solidFill>
                  <a:srgbClr val="FFFFFF"/>
                </a:solidFill>
              </a:rPr>
              <a:t>displayInfo</a:t>
            </a:r>
            <a:r>
              <a:rPr lang="en-US" sz="1200" dirty="0">
                <a:solidFill>
                  <a:srgbClr val="FFFFFF"/>
                </a:solidFill>
              </a:rPr>
              <a:t>() in Member vs Librarian</a:t>
            </a:r>
            <a:endParaRPr lang="en-US" sz="1200" dirty="0"/>
          </a:p>
          <a:p>
            <a:r>
              <a:rPr lang="en-US" sz="1100" dirty="0">
                <a:solidFill>
                  <a:srgbClr val="B0C4DE"/>
                </a:solidFill>
              </a:rPr>
              <a:t>▸ vector&lt;</a:t>
            </a:r>
            <a:r>
              <a:rPr lang="en-US" sz="1100" dirty="0" err="1">
                <a:solidFill>
                  <a:srgbClr val="B0C4DE"/>
                </a:solidFill>
              </a:rPr>
              <a:t>LibraryItem</a:t>
            </a:r>
            <a:r>
              <a:rPr lang="en-US" sz="1100" dirty="0">
                <a:solidFill>
                  <a:srgbClr val="B0C4DE"/>
                </a:solidFill>
              </a:rPr>
              <a:t>*&gt; iterated at runtime</a:t>
            </a:r>
            <a:endParaRPr lang="en-US" sz="1200" dirty="0"/>
          </a:p>
          <a:p>
            <a:r>
              <a:rPr lang="en-US" sz="1100" dirty="0">
                <a:solidFill>
                  <a:srgbClr val="B0C4DE"/>
                </a:solidFill>
              </a:rPr>
              <a:t>▸ Correct type auto-resolved dynamically</a:t>
            </a:r>
            <a:endParaRPr lang="en-US" sz="1200" dirty="0"/>
          </a:p>
          <a:p>
            <a:r>
              <a:rPr lang="en-US" sz="1100" dirty="0">
                <a:solidFill>
                  <a:srgbClr val="B0C4DE"/>
                </a:solidFill>
              </a:rPr>
              <a:t>▸ Operator &lt;&lt; overloaded for Book class</a:t>
            </a:r>
            <a:endParaRPr lang="en-US" sz="1200" dirty="0"/>
          </a:p>
          <a:p>
            <a:endParaRPr lang="en-GB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1188720"/>
            <a:ext cx="3840480" cy="347472"/>
          </a:xfrm>
          <a:prstGeom prst="roundRect">
            <a:avLst>
              <a:gd name="adj" fmla="val 15789"/>
            </a:avLst>
          </a:prstGeom>
          <a:solidFill>
            <a:srgbClr val="FF6B6B">
              <a:alpha val="9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75488" y="1188720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LibraryException (base)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874520"/>
            <a:ext cx="3291840" cy="347472"/>
          </a:xfrm>
          <a:prstGeom prst="roundRect">
            <a:avLst>
              <a:gd name="adj" fmla="val 15789"/>
            </a:avLst>
          </a:prstGeom>
          <a:solidFill>
            <a:srgbClr val="FFB347">
              <a:alpha val="7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1874520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FileException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2048256"/>
            <a:ext cx="137160" cy="0"/>
          </a:xfrm>
          <a:prstGeom prst="line">
            <a:avLst/>
          </a:prstGeom>
          <a:noFill/>
          <a:ln w="12700">
            <a:solidFill>
              <a:srgbClr val="7A93A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286000"/>
            <a:ext cx="3291840" cy="347472"/>
          </a:xfrm>
          <a:prstGeom prst="roundRect">
            <a:avLst>
              <a:gd name="adj" fmla="val 15789"/>
            </a:avLst>
          </a:prstGeom>
          <a:solidFill>
            <a:srgbClr val="FFB347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2286000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InvalidInputException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22960" y="2459736"/>
            <a:ext cx="137160" cy="0"/>
          </a:xfrm>
          <a:prstGeom prst="line">
            <a:avLst/>
          </a:prstGeom>
          <a:noFill/>
          <a:ln w="12700">
            <a:solidFill>
              <a:srgbClr val="7A93A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2697480"/>
            <a:ext cx="3291840" cy="347472"/>
          </a:xfrm>
          <a:prstGeom prst="roundRect">
            <a:avLst>
              <a:gd name="adj" fmla="val 15789"/>
            </a:avLst>
          </a:prstGeom>
          <a:solidFill>
            <a:srgbClr val="FFB347">
              <a:alpha val="7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2697480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ItemNotFoundException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" y="2871216"/>
            <a:ext cx="137160" cy="0"/>
          </a:xfrm>
          <a:prstGeom prst="line">
            <a:avLst/>
          </a:prstGeom>
          <a:noFill/>
          <a:ln w="12700">
            <a:solidFill>
              <a:srgbClr val="7A93A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3108960"/>
            <a:ext cx="3291840" cy="347472"/>
          </a:xfrm>
          <a:prstGeom prst="roundRect">
            <a:avLst>
              <a:gd name="adj" fmla="val 15789"/>
            </a:avLst>
          </a:prstGeom>
          <a:solidFill>
            <a:srgbClr val="FFB347">
              <a:alpha val="7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" y="3108960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MemberNotFoundException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22960" y="3282696"/>
            <a:ext cx="137160" cy="0"/>
          </a:xfrm>
          <a:prstGeom prst="line">
            <a:avLst/>
          </a:prstGeom>
          <a:noFill/>
          <a:ln w="12700">
            <a:solidFill>
              <a:srgbClr val="7A93A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" y="3520440"/>
            <a:ext cx="3291840" cy="347472"/>
          </a:xfrm>
          <a:prstGeom prst="roundRect">
            <a:avLst>
              <a:gd name="adj" fmla="val 15789"/>
            </a:avLst>
          </a:prstGeom>
          <a:solidFill>
            <a:srgbClr val="FFB347">
              <a:alpha val="7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749808" y="3520440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BorrowLimitException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22960" y="3694176"/>
            <a:ext cx="137160" cy="0"/>
          </a:xfrm>
          <a:prstGeom prst="line">
            <a:avLst/>
          </a:prstGeom>
          <a:noFill/>
          <a:ln w="12700">
            <a:solidFill>
              <a:srgbClr val="7A93A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3931920"/>
            <a:ext cx="3291840" cy="347472"/>
          </a:xfrm>
          <a:prstGeom prst="roundRect">
            <a:avLst>
              <a:gd name="adj" fmla="val 15789"/>
            </a:avLst>
          </a:prstGeom>
          <a:solidFill>
            <a:srgbClr val="FFB347">
              <a:alpha val="7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3931920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DuplicateEntryException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22960" y="4105656"/>
            <a:ext cx="137160" cy="0"/>
          </a:xfrm>
          <a:prstGeom prst="line">
            <a:avLst/>
          </a:prstGeom>
          <a:noFill/>
          <a:ln w="12700">
            <a:solidFill>
              <a:srgbClr val="7A93A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7240" y="1536192"/>
            <a:ext cx="0" cy="2615184"/>
          </a:xfrm>
          <a:prstGeom prst="line">
            <a:avLst/>
          </a:prstGeom>
          <a:noFill/>
          <a:ln w="12700">
            <a:solidFill>
              <a:srgbClr val="7A93A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Handles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754880" y="1554480"/>
            <a:ext cx="4114800" cy="502920"/>
          </a:xfrm>
          <a:prstGeom prst="roundRect">
            <a:avLst>
              <a:gd name="adj" fmla="val 12727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892040" y="1581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FileException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269480" y="15819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File read/write failures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54880" y="2130552"/>
            <a:ext cx="4114800" cy="502920"/>
          </a:xfrm>
          <a:prstGeom prst="roundRect">
            <a:avLst>
              <a:gd name="adj" fmla="val 12727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892040" y="21579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InvalidInputException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69480" y="215798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Bad or empty user input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754880" y="2706624"/>
            <a:ext cx="4114800" cy="502920"/>
          </a:xfrm>
          <a:prstGeom prst="roundRect">
            <a:avLst>
              <a:gd name="adj" fmla="val 12727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892040" y="27340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ItemNotFoundException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269480" y="273405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Item ID not in catalogue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54880" y="3282696"/>
            <a:ext cx="4114800" cy="502920"/>
          </a:xfrm>
          <a:prstGeom prst="roundRect">
            <a:avLst>
              <a:gd name="adj" fmla="val 12727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4892040" y="3310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MemberNotFoundException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269480" y="33101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Member ID not found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754880" y="3858768"/>
            <a:ext cx="4114800" cy="502920"/>
          </a:xfrm>
          <a:prstGeom prst="roundRect">
            <a:avLst>
              <a:gd name="adj" fmla="val 12727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489204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BorrowLimitException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269480" y="3886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Max 3 items per member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754880" y="4434840"/>
            <a:ext cx="4114800" cy="502920"/>
          </a:xfrm>
          <a:prstGeom prst="roundRect">
            <a:avLst>
              <a:gd name="adj" fmla="val 12727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4892040" y="44622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DuplicateEntryException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269480" y="446227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Duplicate ID detected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Persistence  &amp;  System Menu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Shape 3"/>
          <p:cNvSpPr/>
          <p:nvPr/>
        </p:nvSpPr>
        <p:spPr>
          <a:xfrm>
            <a:off x="320040" y="114300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File Persistence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3749040" cy="548640"/>
          </a:xfrm>
          <a:prstGeom prst="roundRect">
            <a:avLst>
              <a:gd name="adj" fmla="val 11667"/>
            </a:avLst>
          </a:prstGeom>
          <a:solidFill>
            <a:srgbClr val="162436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7739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books.csv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2029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Books &amp; Magazines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359152"/>
            <a:ext cx="3749040" cy="548640"/>
          </a:xfrm>
          <a:prstGeom prst="roundRect">
            <a:avLst>
              <a:gd name="adj" fmla="val 11667"/>
            </a:avLst>
          </a:prstGeom>
          <a:solidFill>
            <a:srgbClr val="162436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members.csv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2651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Members + borrow list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980944"/>
            <a:ext cx="3749040" cy="548640"/>
          </a:xfrm>
          <a:prstGeom prst="roundRect">
            <a:avLst>
              <a:gd name="adj" fmla="val 11667"/>
            </a:avLst>
          </a:prstGeom>
          <a:solidFill>
            <a:srgbClr val="162436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transactions.txt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" y="32735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action taken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3657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▸ Auto-loaded on startup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▸ Auto-saved on exit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▸ Corrupted lines skipped safely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114300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162436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9204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12-Option Menu</a:t>
            </a:r>
            <a:endParaRPr lang="en-US" sz="1300" dirty="0"/>
          </a:p>
        </p:txBody>
      </p:sp>
      <p:pic>
        <p:nvPicPr>
          <p:cNvPr id="20" name="Image 1" descr="/home/claude/ss2.png"/>
          <p:cNvPicPr>
            <a:picLocks noChangeAspect="1"/>
          </p:cNvPicPr>
          <p:nvPr/>
        </p:nvPicPr>
        <p:blipFill>
          <a:blip r:embed="rId4"/>
          <a:srcRect l="17599" r="12963" b="41176"/>
          <a:stretch>
            <a:fillRect/>
          </a:stretch>
        </p:blipFill>
        <p:spPr>
          <a:xfrm>
            <a:off x="4816888" y="1918683"/>
            <a:ext cx="3990783" cy="26731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Structure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Shape 3"/>
          <p:cNvSpPr/>
          <p:nvPr/>
        </p:nvSpPr>
        <p:spPr>
          <a:xfrm>
            <a:off x="3200400" y="11430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6B6B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LibraryItem  (abstract)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886200" y="1600200"/>
            <a:ext cx="0" cy="502920"/>
          </a:xfrm>
          <a:prstGeom prst="line">
            <a:avLst/>
          </a:prstGeom>
          <a:noFill/>
          <a:ln w="19050">
            <a:solidFill>
              <a:srgbClr val="7A93A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86200" y="1600200"/>
            <a:ext cx="914400" cy="502920"/>
          </a:xfrm>
          <a:prstGeom prst="line">
            <a:avLst/>
          </a:prstGeom>
          <a:noFill/>
          <a:ln w="19050">
            <a:solidFill>
              <a:srgbClr val="7A93A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28800" y="21031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4FC3F7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82880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06240" y="21031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4FC3F7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20624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Magazine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0" y="28346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B347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20040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 (abstract)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886200" y="3291840"/>
            <a:ext cx="0" cy="502920"/>
          </a:xfrm>
          <a:prstGeom prst="line">
            <a:avLst/>
          </a:prstGeom>
          <a:noFill/>
          <a:ln w="19050">
            <a:solidFill>
              <a:srgbClr val="7A93A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86200" y="3291840"/>
            <a:ext cx="914400" cy="502920"/>
          </a:xfrm>
          <a:prstGeom prst="line">
            <a:avLst/>
          </a:prstGeom>
          <a:noFill/>
          <a:ln w="19050">
            <a:solidFill>
              <a:srgbClr val="7A93A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28800" y="37947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C9A7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828800" y="3794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206240" y="37947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C9A7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206240" y="3794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583680" y="137160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4FC3F7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583680" y="1371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(Controller)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858000" y="1920240"/>
            <a:ext cx="0" cy="411480"/>
          </a:xfrm>
          <a:prstGeom prst="line">
            <a:avLst/>
          </a:prstGeom>
          <a:noFill/>
          <a:ln w="19050">
            <a:solidFill>
              <a:srgbClr val="7A93A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0" y="1920240"/>
            <a:ext cx="0" cy="1143000"/>
          </a:xfrm>
          <a:prstGeom prst="line">
            <a:avLst/>
          </a:prstGeom>
          <a:noFill/>
          <a:ln w="19050">
            <a:solidFill>
              <a:srgbClr val="7A93A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LibraryItem*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80644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Member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943600" y="3657600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F6B6B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94360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LibraryException (hierarchy)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6576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Static counters: totalItems, memberCount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65760" y="4709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Operator &lt;&lt; overloaded on Book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— Terminal Output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Shape 3"/>
          <p:cNvSpPr/>
          <p:nvPr/>
        </p:nvSpPr>
        <p:spPr>
          <a:xfrm>
            <a:off x="274320" y="1143000"/>
            <a:ext cx="2834640" cy="3749040"/>
          </a:xfrm>
          <a:prstGeom prst="roundRect">
            <a:avLst>
              <a:gd name="adj" fmla="val 3871"/>
            </a:avLst>
          </a:prstGeom>
          <a:solidFill>
            <a:srgbClr val="162436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188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Welcome Banner</a:t>
            </a:r>
            <a:endParaRPr lang="en-US" sz="1100" dirty="0"/>
          </a:p>
        </p:txBody>
      </p:sp>
      <p:pic>
        <p:nvPicPr>
          <p:cNvPr id="8" name="Image 1" descr="/home/claude/ss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1572768"/>
            <a:ext cx="2651760" cy="2560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4206240"/>
            <a:ext cx="28346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Colorful ANSI welcome screen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246120" y="1143000"/>
            <a:ext cx="2834640" cy="3749040"/>
          </a:xfrm>
          <a:prstGeom prst="roundRect">
            <a:avLst>
              <a:gd name="adj" fmla="val 3871"/>
            </a:avLst>
          </a:prstGeom>
          <a:solidFill>
            <a:srgbClr val="162436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246120" y="1188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Main Menu</a:t>
            </a:r>
            <a:endParaRPr lang="en-US" sz="1100" dirty="0"/>
          </a:p>
        </p:txBody>
      </p:sp>
      <p:pic>
        <p:nvPicPr>
          <p:cNvPr id="12" name="Image 2" descr="/home/claude/ss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37560" y="1572768"/>
            <a:ext cx="2651760" cy="2560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46120" y="4206240"/>
            <a:ext cx="28346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12-option interactive menu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6217920" y="1143000"/>
            <a:ext cx="2834640" cy="3749040"/>
          </a:xfrm>
          <a:prstGeom prst="roundRect">
            <a:avLst>
              <a:gd name="adj" fmla="val 3871"/>
            </a:avLst>
          </a:prstGeom>
          <a:solidFill>
            <a:srgbClr val="162436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217920" y="1188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All Library Items</a:t>
            </a:r>
            <a:endParaRPr lang="en-US" sz="1100" dirty="0"/>
          </a:p>
        </p:txBody>
      </p:sp>
      <p:pic>
        <p:nvPicPr>
          <p:cNvPr id="16" name="Image 3" descr="/home/claude/ss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09360" y="1572768"/>
            <a:ext cx="2651760" cy="2560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17920" y="4206240"/>
            <a:ext cx="28346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Books &amp; Magazines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4FC3F7">
              <a:alpha val="10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65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OOP: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50876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1737360"/>
            <a:ext cx="594360" cy="594360"/>
          </a:xfrm>
          <a:prstGeom prst="ellipse">
            <a:avLst/>
          </a:prstGeom>
          <a:solidFill>
            <a:srgbClr val="FF6B6B">
              <a:alpha val="80000"/>
            </a:srgbClr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7830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1691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61872" y="21305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 &amp; pure virtuals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337560" y="150876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47288" y="1737360"/>
            <a:ext cx="594360" cy="594360"/>
          </a:xfrm>
          <a:prstGeom prst="ellipse">
            <a:avLst/>
          </a:prstGeom>
          <a:solidFill>
            <a:srgbClr val="4FC3F7">
              <a:alpha val="80000"/>
            </a:srgbClr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17830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42232" y="1691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142232" y="21305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data with controlled access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217920" y="150876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327648" y="1737360"/>
            <a:ext cx="594360" cy="594360"/>
          </a:xfrm>
          <a:prstGeom prst="ellipse">
            <a:avLst/>
          </a:prstGeom>
          <a:solidFill>
            <a:srgbClr val="FFB347">
              <a:alpha val="80000"/>
            </a:srgbClr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178308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22592" y="1691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022592" y="21305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class hierarchy &amp; reuse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57200" y="310896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6928" y="3337560"/>
            <a:ext cx="594360" cy="594360"/>
          </a:xfrm>
          <a:prstGeom prst="ellipse">
            <a:avLst/>
          </a:prstGeom>
          <a:solidFill>
            <a:srgbClr val="00C9A7">
              <a:alpha val="80000"/>
            </a:srgbClr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3383280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61872" y="3291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261872" y="37307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Runtime-resolved virtual dispatch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3337560" y="310896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447288" y="3337560"/>
            <a:ext cx="594360" cy="594360"/>
          </a:xfrm>
          <a:prstGeom prst="ellipse">
            <a:avLst/>
          </a:prstGeom>
          <a:solidFill>
            <a:srgbClr val="FF6B6B">
              <a:alpha val="80000"/>
            </a:srgbClr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3008" y="3383280"/>
            <a:ext cx="502920" cy="5029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142232" y="3291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142232" y="37307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6-type exception hierarchy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6217920" y="310896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1B2E45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327648" y="3337560"/>
            <a:ext cx="594360" cy="594360"/>
          </a:xfrm>
          <a:prstGeom prst="ellipse">
            <a:avLst/>
          </a:prstGeom>
          <a:solidFill>
            <a:srgbClr val="4FC3F7">
              <a:alpha val="80000"/>
            </a:srgbClr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3368" y="3383280"/>
            <a:ext cx="502920" cy="5029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022592" y="3291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Persistence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7022592" y="37307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storage + transaction log</a:t>
            </a:r>
            <a:endParaRPr lang="en-US" sz="950" dirty="0"/>
          </a:p>
        </p:txBody>
      </p:sp>
      <p:sp>
        <p:nvSpPr>
          <p:cNvPr id="37" name="Text 28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C++ OOP — Console Application  |  Books · Magazines · Members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481</Words>
  <Application>Microsoft Office PowerPoint</Application>
  <PresentationFormat>On-screen Show (16:9)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 - OOP Project</dc:title>
  <dc:subject>PptxGenJS Presentation</dc:subject>
  <dc:creator>PptxGenJS</dc:creator>
  <cp:lastModifiedBy>Shahzeb Ali</cp:lastModifiedBy>
  <cp:revision>2</cp:revision>
  <dcterms:created xsi:type="dcterms:W3CDTF">2026-06-20T18:08:42Z</dcterms:created>
  <dcterms:modified xsi:type="dcterms:W3CDTF">2026-06-20T18:22:51Z</dcterms:modified>
</cp:coreProperties>
</file>